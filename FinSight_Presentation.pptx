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FinSight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DDE9FF"/>
                </a:solidFill>
              </a:rPr>
              <a:t>Financial Document Intelligence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91840"/>
            <a:ext cx="3657600" cy="54864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92AA"/>
                </a:solidFill>
              </a:rPr>
              <a:t>Upload receipts, invoices &amp; bank statements.
AI extracts, categorises and visualises your finances —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AA"/>
                </a:solidFill>
              </a:rPr>
              <a:t>Cloud Computing Project  ·  AWS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&amp; 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FinSight — Cloud Computing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94960" cy="5074920"/>
          </a:xfrm>
          <a:prstGeom prst="rect">
            <a:avLst/>
          </a:prstGeom>
          <a:solidFill>
            <a:srgbClr val="F4F6FB"/>
          </a:solidFill>
          <a:ln w="762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9496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44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  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0D1B4B"/>
                </a:solidFill>
              </a:rPr>
              <a:t>✗  People receive financial documents in many formats — PDFs, scanned images, photos of receipts.</a:t>
            </a:r>
          </a:p>
          <a:p>
            <a:pPr algn="l">
              <a:spcBef>
                <a:spcPts val="800"/>
              </a:spcBef>
            </a:pPr>
            <a:r>
              <a:rPr sz="1100">
                <a:solidFill>
                  <a:srgbClr val="0D1B4B"/>
                </a:solidFill>
              </a:rPr>
              <a:t>✗  Manually reading, typing out amounts, dates and vendor names is slow and error-prone.</a:t>
            </a:r>
          </a:p>
          <a:p>
            <a:pPr algn="l">
              <a:spcBef>
                <a:spcPts val="800"/>
              </a:spcBef>
            </a:pPr>
            <a:r>
              <a:rPr sz="1100">
                <a:solidFill>
                  <a:srgbClr val="0D1B4B"/>
                </a:solidFill>
              </a:rPr>
              <a:t>✗  Tracking monthly spend and income across tens of documents is nearly impossible without a system.</a:t>
            </a:r>
          </a:p>
          <a:p>
            <a:pPr algn="l">
              <a:spcBef>
                <a:spcPts val="800"/>
              </a:spcBef>
            </a:pPr>
            <a:r>
              <a:rPr sz="1100">
                <a:solidFill>
                  <a:srgbClr val="0D1B4B"/>
                </a:solidFill>
              </a:rPr>
              <a:t>✗  Existing tools like Excel require manual entry — there is no automatic extraction.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17320"/>
            <a:ext cx="5669280" cy="5074920"/>
          </a:xfrm>
          <a:prstGeom prst="rect">
            <a:avLst/>
          </a:prstGeom>
          <a:solidFill>
            <a:srgbClr val="F4F6FB"/>
          </a:solidFill>
          <a:ln w="762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5669280" cy="457200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444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  Our Solution — FinSight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9C5A"/>
                </a:solidFill>
              </a:rPr>
              <a:t>✓  Upload any document</a:t>
            </a:r>
          </a:p>
          <a:p>
            <a:pPr algn="l"/>
            <a:r>
              <a:rPr sz="1000">
                <a:solidFill>
                  <a:srgbClr val="0D1B4B"/>
                </a:solidFill>
              </a:rPr>
              <a:t>     PDF, PNG, JPG — up to 50 MB per file, multiple files at once.</a:t>
            </a: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2D9C5A"/>
                </a:solidFill>
              </a:rPr>
              <a:t>✓  Automatic OCR</a:t>
            </a:r>
          </a:p>
          <a:p>
            <a:pPr algn="l"/>
            <a:r>
              <a:rPr sz="1000">
                <a:solidFill>
                  <a:srgbClr val="0D1B4B"/>
                </a:solidFill>
              </a:rPr>
              <a:t>     Tesseract reads the text from scanned pages, even handwritten receipts.</a:t>
            </a: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2D9C5A"/>
                </a:solidFill>
              </a:rPr>
              <a:t>✓  Smart extraction</a:t>
            </a:r>
          </a:p>
          <a:p>
            <a:pPr algn="l"/>
            <a:r>
              <a:rPr sz="1000">
                <a:solidFill>
                  <a:srgbClr val="0D1B4B"/>
                </a:solidFill>
              </a:rPr>
              <a:t>     Pulls out amounts, dates, vendor names, invoice numbers automatically.</a:t>
            </a: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2D9C5A"/>
                </a:solidFill>
              </a:rPr>
              <a:t>✓  Auto-categorisation</a:t>
            </a:r>
          </a:p>
          <a:p>
            <a:pPr algn="l"/>
            <a:r>
              <a:rPr sz="1000">
                <a:solidFill>
                  <a:srgbClr val="0D1B4B"/>
                </a:solidFill>
              </a:rPr>
              <a:t>     Classifies each document: Invoice, Receipt, Pay Stub, Bank Statement, Tax Form.</a:t>
            </a: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2D9C5A"/>
                </a:solidFill>
              </a:rPr>
              <a:t>✓  Live dashboard</a:t>
            </a:r>
          </a:p>
          <a:p>
            <a:pPr algn="l"/>
            <a:r>
              <a:rPr sz="1000">
                <a:solidFill>
                  <a:srgbClr val="0D1B4B"/>
                </a:solidFill>
              </a:rPr>
              <a:t>     Monthly cash flow chart, top vendors, category breakdown — all filtered by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Product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9FF"/>
                </a:solidFill>
              </a:rPr>
              <a:t>Step by step — what the user sees and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FinSight — Cloud Computing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611880" cy="411480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3611880" cy="47548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Step 1  —  Register /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39112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4B"/>
                </a:solidFill>
              </a:rPr>
              <a:t>Create an account with username + password.
All documents are private per user.
Passwords hashed with Werkzeug.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1417320"/>
            <a:ext cx="3611880" cy="411480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7639" y="1417320"/>
            <a:ext cx="3611880" cy="47548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4904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Step 2  —  Upload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039112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4B"/>
                </a:solidFill>
              </a:rPr>
              <a:t>Pick one or multiple files at once.
Progress bar shows per-file status.
Supports PDF, PNG, JPG, TIFF.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1417320"/>
            <a:ext cx="3611880" cy="411480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1417320"/>
            <a:ext cx="3611880" cy="47548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14904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Step 3  —  Automatic OCR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19" y="2039112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4B"/>
                </a:solidFill>
              </a:rPr>
              <a:t>Tesseract reads text at 300 DPI.
Extracts: amounts, dates, vendor,
invoice number, document type.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669280"/>
            <a:ext cx="11521440" cy="77724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6875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makes FinSight different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715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9FF"/>
                </a:solidFill>
              </a:rPr>
              <a:t>✓  No manual data entry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5715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9FF"/>
                </a:solidFill>
              </a:rPr>
              <a:t>✓  Works on scanned images, not just digital PDFs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5715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9FF"/>
                </a:solidFill>
              </a:rPr>
              <a:t>✓  Multi-user — each person sees only their documents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69880" y="5715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9FF"/>
                </a:solidFill>
              </a:rPr>
              <a:t>✓  Runs entirely on AWS — accessible from any browser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OCR &amp; Data Extraction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9FF"/>
                </a:solidFill>
              </a:rPr>
              <a:t>The intelligence behind FinSight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FinSight — Cloud Computing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67160" cy="38404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Document Processing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1508760" cy="141732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20240"/>
            <a:ext cx="1353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4B"/>
                </a:solidFill>
              </a:rPr>
              <a:t>PDF / Image
Uploaded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77440"/>
            <a:ext cx="150876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450592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4B"/>
                </a:solidFill>
              </a:rPr>
              <a:t>File received
by Flask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6EF5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1952" y="1874519"/>
            <a:ext cx="1508760" cy="141732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93392" y="1920240"/>
            <a:ext cx="1353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4B"/>
                </a:solidFill>
              </a:rPr>
              <a:t>pdf2image
converts PDF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1952" y="2377440"/>
            <a:ext cx="150876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93392" y="2450592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4B"/>
                </a:solidFill>
              </a:rPr>
              <a:t>Each page →
PNG at 300 DPI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6EF5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83864" y="1874519"/>
            <a:ext cx="1508760" cy="141732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75304" y="1920240"/>
            <a:ext cx="1353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4B"/>
                </a:solidFill>
              </a:rPr>
              <a:t>Tesseract OCR
reads image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83864" y="2377440"/>
            <a:ext cx="150876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75304" y="2450592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4B"/>
                </a:solidFill>
              </a:rPr>
              <a:t>Outputs raw
text 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2624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6EF5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65776" y="1874519"/>
            <a:ext cx="1508760" cy="141732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57216" y="1920240"/>
            <a:ext cx="1353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4B"/>
                </a:solidFill>
              </a:rPr>
              <a:t>Normalise
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65776" y="2377440"/>
            <a:ext cx="150876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57216" y="2450592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4B"/>
                </a:solidFill>
              </a:rPr>
              <a:t>Fix OCR
artefacts
e.g. 'J anuary'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536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6EF5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47688" y="1874519"/>
            <a:ext cx="1508760" cy="141732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39127" y="1920240"/>
            <a:ext cx="1353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4B"/>
                </a:solidFill>
              </a:rPr>
              <a:t>Regex
extraction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47688" y="2377440"/>
            <a:ext cx="150876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39127" y="2450592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4B"/>
                </a:solidFill>
              </a:rPr>
              <a:t>Amounts, dates,
vendor, invoice
number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6EF5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1874519"/>
            <a:ext cx="1508760" cy="141732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1920240"/>
            <a:ext cx="1353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4B"/>
                </a:solidFill>
              </a:rPr>
              <a:t>Classify
document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2377440"/>
            <a:ext cx="150876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2450592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4B"/>
                </a:solidFill>
              </a:rPr>
              <a:t>Invoice / Receipt
Pay Stub / Bank
Statement / Tax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6EF5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11512" y="1874519"/>
            <a:ext cx="1508760" cy="1417320"/>
          </a:xfrm>
          <a:prstGeom prst="rect">
            <a:avLst/>
          </a:prstGeom>
          <a:solidFill>
            <a:srgbClr val="DDE9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02952" y="1920240"/>
            <a:ext cx="1353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4B"/>
                </a:solidFill>
              </a:rPr>
              <a:t>Save to
PostgreSQL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11512" y="2377440"/>
            <a:ext cx="150876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02952" y="2450592"/>
            <a:ext cx="1353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4B"/>
                </a:solidFill>
              </a:rPr>
              <a:t>All fields stored
with confidence
score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493008"/>
            <a:ext cx="11567160" cy="384048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5204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Fields Extracted from Every Document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977639"/>
            <a:ext cx="1527048" cy="2423160"/>
          </a:xfrm>
          <a:prstGeom prst="rect">
            <a:avLst/>
          </a:prstGeom>
          <a:solidFill>
            <a:srgbClr val="F4F6FB"/>
          </a:solidFill>
          <a:ln w="635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4023360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Amounts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79" y="4407408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$1,234.56
$0.99 / 12,000 USD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102352"/>
            <a:ext cx="1527048" cy="27432"/>
          </a:xfrm>
          <a:prstGeom prst="rect">
            <a:avLst/>
          </a:prstGeom>
          <a:solidFill>
            <a:srgbClr val="D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79" y="5166360"/>
            <a:ext cx="1399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Regex: all dollar
values found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01952" y="3977639"/>
            <a:ext cx="1527048" cy="2423160"/>
          </a:xfrm>
          <a:prstGeom prst="rect">
            <a:avLst/>
          </a:prstGeom>
          <a:solidFill>
            <a:srgbClr val="F4F6FB"/>
          </a:solidFill>
          <a:ln w="635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93392" y="4023360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Total Amount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93392" y="4407408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Largest / labelled
total in document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01952" y="5102352"/>
            <a:ext cx="1527048" cy="27432"/>
          </a:xfrm>
          <a:prstGeom prst="rect">
            <a:avLst/>
          </a:prstGeom>
          <a:solidFill>
            <a:srgbClr val="D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93392" y="5166360"/>
            <a:ext cx="1399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4-stage logic:
label → sum → max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83864" y="3977639"/>
            <a:ext cx="1527048" cy="2423160"/>
          </a:xfrm>
          <a:prstGeom prst="rect">
            <a:avLst/>
          </a:prstGeom>
          <a:solidFill>
            <a:srgbClr val="F4F6FB"/>
          </a:solidFill>
          <a:ln w="635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75304" y="4023360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Dates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75304" y="4407408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01/15/2026
January 15, 2026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83864" y="5102352"/>
            <a:ext cx="1527048" cy="27432"/>
          </a:xfrm>
          <a:prstGeom prst="rect">
            <a:avLst/>
          </a:prstGeom>
          <a:solidFill>
            <a:srgbClr val="D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75304" y="5166360"/>
            <a:ext cx="1399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Matches 6 different
date formats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65776" y="3977639"/>
            <a:ext cx="1527048" cy="2423160"/>
          </a:xfrm>
          <a:prstGeom prst="rect">
            <a:avLst/>
          </a:prstGeom>
          <a:solidFill>
            <a:srgbClr val="F4F6FB"/>
          </a:solidFill>
          <a:ln w="635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57216" y="4023360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Vendor Name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57216" y="4407408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First line or line
after 'From:' / 'Vendor:'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65776" y="5102352"/>
            <a:ext cx="1527048" cy="27432"/>
          </a:xfrm>
          <a:prstGeom prst="rect">
            <a:avLst/>
          </a:prstGeom>
          <a:solidFill>
            <a:srgbClr val="D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57216" y="5166360"/>
            <a:ext cx="1399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Signal-word
lookup + fallback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47688" y="3977639"/>
            <a:ext cx="1527048" cy="2423160"/>
          </a:xfrm>
          <a:prstGeom prst="rect">
            <a:avLst/>
          </a:prstGeom>
          <a:solidFill>
            <a:srgbClr val="F4F6FB"/>
          </a:solidFill>
          <a:ln w="635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39127" y="4023360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Invoice Number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39127" y="4407408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INV-0042
Order #8821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47688" y="5102352"/>
            <a:ext cx="1527048" cy="27432"/>
          </a:xfrm>
          <a:prstGeom prst="rect">
            <a:avLst/>
          </a:prstGeom>
          <a:solidFill>
            <a:srgbClr val="D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39127" y="5166360"/>
            <a:ext cx="1399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Matches invoice,
receipt, ref, txn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9600" y="3977639"/>
            <a:ext cx="1527048" cy="2423160"/>
          </a:xfrm>
          <a:prstGeom prst="rect">
            <a:avLst/>
          </a:prstGeom>
          <a:solidFill>
            <a:srgbClr val="F4F6FB"/>
          </a:solidFill>
          <a:ln w="635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21040" y="4023360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Document Type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21040" y="4407408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Invoice / Receipt
Pay Stub / Bank Stmt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0" y="5102352"/>
            <a:ext cx="1527048" cy="27432"/>
          </a:xfrm>
          <a:prstGeom prst="rect">
            <a:avLst/>
          </a:prstGeom>
          <a:solidFill>
            <a:srgbClr val="D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21040" y="5166360"/>
            <a:ext cx="1399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Keyword scoring
across 6 categories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811512" y="3977639"/>
            <a:ext cx="1527048" cy="2423160"/>
          </a:xfrm>
          <a:prstGeom prst="rect">
            <a:avLst/>
          </a:prstGeom>
          <a:solidFill>
            <a:srgbClr val="F4F6FB"/>
          </a:solidFill>
          <a:ln w="635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02952" y="4023360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Confidence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02952" y="4407408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0.0 – 1.0 score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811512" y="5102352"/>
            <a:ext cx="1527048" cy="27432"/>
          </a:xfrm>
          <a:prstGeom prst="rect">
            <a:avLst/>
          </a:prstGeom>
          <a:solidFill>
            <a:srgbClr val="D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902952" y="5166360"/>
            <a:ext cx="1399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Ratio of readable
chars to total chars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Dashboard &amp;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9FF"/>
                </a:solidFill>
              </a:rPr>
              <a:t>What users see after uploading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FinSight — Cloud Computing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801367" cy="1234440"/>
          </a:xfrm>
          <a:prstGeom prst="rect">
            <a:avLst/>
          </a:prstGeom>
          <a:solidFill>
            <a:srgbClr val="F4F6FB"/>
          </a:solidFill>
          <a:ln w="15240">
            <a:solidFill>
              <a:srgbClr val="2D9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801367" cy="73152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572768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D9C5A"/>
                </a:solidFill>
              </a:rPr>
              <a:t>$8,450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084831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Total Income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377440"/>
            <a:ext cx="16459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Sum of all income 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1417320"/>
            <a:ext cx="1801367" cy="1234440"/>
          </a:xfrm>
          <a:prstGeom prst="rect">
            <a:avLst/>
          </a:prstGeom>
          <a:solidFill>
            <a:srgbClr val="F4F6FB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4560" y="1417320"/>
            <a:ext cx="1801367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4288" y="1572768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392B"/>
                </a:solidFill>
              </a:rPr>
              <a:t>$3,210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2084831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Total Expenses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2377440"/>
            <a:ext cx="16459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Sum of all expense docs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79" y="1417320"/>
            <a:ext cx="1801367" cy="1234440"/>
          </a:xfrm>
          <a:prstGeom prst="rect">
            <a:avLst/>
          </a:prstGeom>
          <a:solidFill>
            <a:srgbClr val="F4F6FB"/>
          </a:solidFill>
          <a:ln w="1524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9079" y="1417320"/>
            <a:ext cx="1801367" cy="73152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78807" y="1572768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6EF5"/>
                </a:solidFill>
              </a:rPr>
              <a:t>$5,240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7" y="2084831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Net Cash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8807" y="2377440"/>
            <a:ext cx="16459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Income minus expenses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599" y="1417320"/>
            <a:ext cx="1801367" cy="1234440"/>
          </a:xfrm>
          <a:prstGeom prst="rect">
            <a:avLst/>
          </a:prstGeom>
          <a:solidFill>
            <a:srgbClr val="F4F6FB"/>
          </a:solidFill>
          <a:ln w="15240">
            <a:solidFill>
              <a:srgbClr val="1C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599" y="1417320"/>
            <a:ext cx="1801367" cy="73152"/>
          </a:xfrm>
          <a:prstGeom prst="rect">
            <a:avLst/>
          </a:prstGeom>
          <a:solidFill>
            <a:srgbClr val="1C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7" y="1572768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3D7A"/>
                </a:solidFill>
              </a:rPr>
              <a:t>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7" y="2084831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Documents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7" y="2377440"/>
            <a:ext cx="16459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Total uploaded this month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19" y="1417320"/>
            <a:ext cx="1801367" cy="1234440"/>
          </a:xfrm>
          <a:prstGeom prst="rect">
            <a:avLst/>
          </a:prstGeom>
          <a:solidFill>
            <a:srgbClr val="F4F6FB"/>
          </a:solidFill>
          <a:ln w="1524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18119" y="1417320"/>
            <a:ext cx="1801367" cy="73152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7847" y="1572768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8A00"/>
                </a:solidFill>
              </a:rPr>
              <a:t>62%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7847" y="2084831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Savings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7847" y="2377440"/>
            <a:ext cx="16459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Net / Income ratio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39" y="1417320"/>
            <a:ext cx="1801367" cy="1234440"/>
          </a:xfrm>
          <a:prstGeom prst="rect">
            <a:avLst/>
          </a:prstGeom>
          <a:solidFill>
            <a:srgbClr val="F4F6FB"/>
          </a:solidFill>
          <a:ln w="15240">
            <a:solidFill>
              <a:srgbClr val="0D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92639" y="1417320"/>
            <a:ext cx="1801367" cy="73152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02367" y="1572768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4B"/>
                </a:solidFill>
              </a:rPr>
              <a:t>$1,605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2367" y="2084831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Avg Monthly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2367" y="2377440"/>
            <a:ext cx="16459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Average monthly spend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852928"/>
            <a:ext cx="3749039" cy="3611880"/>
          </a:xfrm>
          <a:prstGeom prst="rect">
            <a:avLst/>
          </a:prstGeom>
          <a:solidFill>
            <a:srgbClr val="F4F6FB"/>
          </a:solidFill>
          <a:ln w="762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2852928"/>
            <a:ext cx="3749039" cy="41148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" y="2880360"/>
            <a:ext cx="35935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Monthly Cash Flow Trend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" y="3364992"/>
            <a:ext cx="3593591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4B"/>
                </a:solidFill>
              </a:rPr>
              <a:t>Bar chart showing income and expenses for each of the last 12 months.
Groups documents by the date extracted from the document itself (primary_date) — not the upload date.
This means uploading January documents in April still shows them correctly in January.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577840"/>
            <a:ext cx="3749039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8" y="5650992"/>
            <a:ext cx="359359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92AA"/>
                </a:solidFill>
              </a:rPr>
              <a:t>Chart type: grouped bar
X-axis: YYYY-MM
Y-axis: total amount ($)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1" y="2852928"/>
            <a:ext cx="3749039" cy="3611880"/>
          </a:xfrm>
          <a:prstGeom prst="rect">
            <a:avLst/>
          </a:prstGeom>
          <a:solidFill>
            <a:srgbClr val="F4F6FB"/>
          </a:solidFill>
          <a:ln w="762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42231" y="2852928"/>
            <a:ext cx="3749039" cy="41148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59" y="2880360"/>
            <a:ext cx="35935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Top Vendors by Spend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1959" y="3364992"/>
            <a:ext cx="3593591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4B"/>
                </a:solidFill>
              </a:rPr>
              <a:t>Horizontal bar chart ranking vendors by total amount spent.
Vendor name is extracted by OCR — looks for signal words like 'From:', 'Vendor:', 'Billed by:' and falls back to the first line of the document.
Sorted by SUM of total_amount, not by document count.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1" y="5577840"/>
            <a:ext cx="3749039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59" y="5650992"/>
            <a:ext cx="359359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92AA"/>
                </a:solidFill>
              </a:rPr>
              <a:t>Chart type: horizontal bar
Metric: total spend ($)
Top 8 vendors shown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64423" y="2852928"/>
            <a:ext cx="3749039" cy="3611880"/>
          </a:xfrm>
          <a:prstGeom prst="rect">
            <a:avLst/>
          </a:prstGeom>
          <a:solidFill>
            <a:srgbClr val="F4F6FB"/>
          </a:solidFill>
          <a:ln w="762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64423" y="2852928"/>
            <a:ext cx="3749039" cy="41148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4151" y="2880360"/>
            <a:ext cx="35935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Category Breakdown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74151" y="3364992"/>
            <a:ext cx="3593591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4B"/>
                </a:solidFill>
              </a:rPr>
              <a:t>Donut/pie breakdown of documents by type: Invoice, Receipt, Pay Stub, Bank Statement, Tax Form.
Each document is classified by a keyword scoring system — the category with the most keyword matches wins.
Filterable by month using the month picker.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64423" y="5577840"/>
            <a:ext cx="3749039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74151" y="5650992"/>
            <a:ext cx="359359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92AA"/>
                </a:solidFill>
              </a:rPr>
              <a:t>6 document categories
Month filter: YYYY-MM
CSV export 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9FF"/>
                </a:solidFill>
              </a:rPr>
              <a:t>Three Docker containers on one EC2, backed by S3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FinSight — Cloud Computing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1920240" cy="1005840"/>
          </a:xfrm>
          <a:prstGeom prst="rect">
            <a:avLst/>
          </a:prstGeom>
          <a:solidFill>
            <a:srgbClr val="DDE9FF"/>
          </a:solidFill>
          <a:ln w="1270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819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4B"/>
                </a:solidFill>
              </a:rPr>
              <a:t>🌐 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202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3D7A"/>
                </a:solidFill>
              </a:rPr>
              <a:t>Any device
HTTP port 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74519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2AA"/>
                </a:solidFill>
              </a:rPr>
              <a:t>HTTP :80  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5852160" cy="4754880"/>
          </a:xfrm>
          <a:prstGeom prst="rect">
            <a:avLst/>
          </a:prstGeom>
          <a:solidFill>
            <a:srgbClr val="F4F6FB"/>
          </a:solidFill>
          <a:ln w="17780">
            <a:solidFill>
              <a:srgbClr val="1C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4173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3D7A"/>
                </a:solidFill>
              </a:rPr>
              <a:t>EC2  t2.micro  (Ubuntu 22.04)  —  Docker Compose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1828800"/>
            <a:ext cx="24688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87451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4B"/>
                </a:solidFill>
              </a:rPr>
              <a:t>nginx:alpine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1945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Port 80 · Serves HTML
Proxies /api → backend:5000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7157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2AA"/>
                </a:solidFill>
              </a:rPr>
              <a:t>↓  proxy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2999232"/>
            <a:ext cx="24688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305409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4B"/>
                </a:solidFill>
              </a:rPr>
              <a:t>Flask / Gunicorn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3649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Port 5000 · REST API
OCR · Auth · Dashboard
/upload /documents /dashboard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0233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2AA"/>
                </a:solidFill>
              </a:rPr>
              <a:t>↓  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4315968"/>
            <a:ext cx="24688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9312" y="43708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4B"/>
                </a:solidFill>
              </a:rPr>
              <a:t>PostgreSQL 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681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Port 5432 · Docker volume
users / documents / extracted_data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828800"/>
            <a:ext cx="2286000" cy="3291840"/>
          </a:xfrm>
          <a:prstGeom prst="rect">
            <a:avLst/>
          </a:prstGeom>
          <a:solidFill>
            <a:srgbClr val="DDE9FF"/>
          </a:solidFill>
          <a:ln w="635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1901952"/>
            <a:ext cx="2103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C6EF5"/>
                </a:solidFill>
              </a:rPr>
              <a:t>finsight-net
(Docker bridge
network)
Internal only —
not reachable
from internet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55480" y="1920240"/>
            <a:ext cx="2286000" cy="1005840"/>
          </a:xfrm>
          <a:prstGeom prst="rect">
            <a:avLst/>
          </a:prstGeom>
          <a:solidFill>
            <a:srgbClr val="DDE9FF"/>
          </a:solidFill>
          <a:ln w="1270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4352" y="197510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4B"/>
                </a:solidFill>
              </a:rPr>
              <a:t>☁  Amazon S3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230428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D7A"/>
                </a:solidFill>
              </a:rPr>
              <a:t>File storage
AES-256 encrypted
Presigned preview URLs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55480" y="3108960"/>
            <a:ext cx="2286000" cy="868680"/>
          </a:xfrm>
          <a:prstGeom prst="rect">
            <a:avLst/>
          </a:prstGeom>
          <a:solidFill>
            <a:srgbClr val="DDE9FF"/>
          </a:solidFill>
          <a:ln w="1270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4352" y="316382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4B"/>
                </a:solidFill>
              </a:rPr>
              <a:t>🔑  IAM LabRole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4352" y="349300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D7A"/>
                </a:solidFill>
              </a:rPr>
              <a:t>Instance Profile
No hardcoded keys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4160520"/>
            <a:ext cx="2286000" cy="868680"/>
          </a:xfrm>
          <a:prstGeom prst="rect">
            <a:avLst/>
          </a:prstGeom>
          <a:solidFill>
            <a:srgbClr val="DDE9FF"/>
          </a:solidFill>
          <a:ln w="1270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74352" y="421538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4B"/>
                </a:solidFill>
              </a:rPr>
              <a:t>🛡  Security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454456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D7A"/>
                </a:solidFill>
              </a:rPr>
              <a:t>Port 80 + 22 open
Port 5000 blocked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318211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892AA"/>
                </a:solidFill>
              </a:rPr>
              <a:t>← boto3 →
upload / download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AWS Services — What We Used &amp;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9FF"/>
                </a:solidFill>
              </a:rPr>
              <a:t>Every cloud service in the project explained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FinSight — Cloud Computing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11567160" cy="676656"/>
          </a:xfrm>
          <a:prstGeom prst="rect">
            <a:avLst/>
          </a:prstGeom>
          <a:solidFill>
            <a:srgbClr val="F4F6FB"/>
          </a:solidFill>
          <a:ln w="381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73152" cy="676656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4475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EC2  t2.micro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444752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Virtual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444752"/>
            <a:ext cx="7818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Runs all three Docker containers (nginx, Flask, PostgreSQL) on Ubuntu 22.04. Chosen over Lambda because Tesseract OCR needs OS-level binaries and ~500 MB of language data installed.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84832"/>
            <a:ext cx="11567160" cy="676656"/>
          </a:xfrm>
          <a:prstGeom prst="rect">
            <a:avLst/>
          </a:prstGeom>
          <a:solidFill>
            <a:srgbClr val="F4F6FB"/>
          </a:solidFill>
          <a:ln w="381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084832"/>
            <a:ext cx="73152" cy="676656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39696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Amazon 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139696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Object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139696"/>
            <a:ext cx="7818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Every uploaded document is stored in S3 (not on EC2 disk). Files are AES-256 encrypted at rest. Frontend never accesses S3 directly — Flask generates a presigned URL (expires in 1 hour) for previews.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779776"/>
            <a:ext cx="11567160" cy="676656"/>
          </a:xfrm>
          <a:prstGeom prst="rect">
            <a:avLst/>
          </a:prstGeom>
          <a:solidFill>
            <a:srgbClr val="F4F6FB"/>
          </a:solidFill>
          <a:ln w="381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779776"/>
            <a:ext cx="73152" cy="676656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83464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IAM  LabRole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834640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Identity &amp;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2834640"/>
            <a:ext cx="7818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The EC2 instance has a LabRole attached. boto3 fetches temporary credentials from the Instance Metadata Service automatically — no AWS keys are ever written in the code.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474720"/>
            <a:ext cx="11567160" cy="676656"/>
          </a:xfrm>
          <a:prstGeom prst="rect">
            <a:avLst/>
          </a:prstGeom>
          <a:solidFill>
            <a:srgbClr val="F4F6FB"/>
          </a:solidFill>
          <a:ln w="381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474720"/>
            <a:ext cx="73152" cy="676656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529584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Security Groups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529584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Firewall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3529584"/>
            <a:ext cx="7818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Port 80 open to all (web app). Port 22 open for SSH. Port 5000 (Flask) is NOT open — only nginx can reach it via the internal Docker network. This prevents direct API access.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169663"/>
            <a:ext cx="11567160" cy="676656"/>
          </a:xfrm>
          <a:prstGeom prst="rect">
            <a:avLst/>
          </a:prstGeom>
          <a:solidFill>
            <a:srgbClr val="F4F6FB"/>
          </a:solidFill>
          <a:ln w="381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169663"/>
            <a:ext cx="73152" cy="676656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224527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VPC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224527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Private Network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4224527"/>
            <a:ext cx="7818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All resources run inside the default VPC. Docker containers communicate over a private bridge network (finsight-net) that is not reachable from the internet.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864607"/>
            <a:ext cx="11567160" cy="676656"/>
          </a:xfrm>
          <a:prstGeom prst="rect">
            <a:avLst/>
          </a:prstGeom>
          <a:solidFill>
            <a:srgbClr val="F4F6FB"/>
          </a:solidFill>
          <a:ln w="381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4864607"/>
            <a:ext cx="73152" cy="67665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919471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RDS PostgreSQL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4919471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Managed Database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4919471"/>
            <a:ext cx="7818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Planned but replaced. AWS Academy deletes RDS instances on session expiry and blocks creating DB Subnet Groups (needs 2 AZs). Replaced with postgres:15-alpine in Docker with a named volume.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559551"/>
            <a:ext cx="11567160" cy="676656"/>
          </a:xfrm>
          <a:prstGeom prst="rect">
            <a:avLst/>
          </a:prstGeom>
          <a:solidFill>
            <a:srgbClr val="F4F6FB"/>
          </a:solidFill>
          <a:ln w="381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5559551"/>
            <a:ext cx="73152" cy="67665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614415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4B"/>
                </a:solidFill>
              </a:rPr>
              <a:t>Lambda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5614415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C6EF5"/>
                </a:solidFill>
              </a:rPr>
              <a:t>Serverless Trigger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7639" y="5614415"/>
            <a:ext cx="7818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Designed as an async OCR trigger: S3 PUT event → Lambda → POST /process on Flask. Not deployed — Academy blocked the required execution role. OCR runs synchronously in the upload endpoint instead.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29107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92AA"/>
                </a:solidFill>
              </a:rPr>
              <a:t>● Active &amp; working   ● Replaced / not deployed in Academy sandbox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Challenges We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9FF"/>
                </a:solidFill>
              </a:rPr>
              <a:t>Real problems encountered during development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A"/>
                </a:solidFill>
              </a:rPr>
              <a:t>FinSight — Cloud Computing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3794760" cy="2240280"/>
          </a:xfrm>
          <a:prstGeom prst="rect">
            <a:avLst/>
          </a:prstGeom>
          <a:solidFill>
            <a:srgbClr val="F4F6FB"/>
          </a:solidFill>
          <a:ln w="762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3794760" cy="36576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43560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RDS deleted every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847088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Problem: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048256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AWS Academy wipes all RDS instances when the session expires (~3 hours).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688336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9C5A"/>
                </a:solidFill>
              </a:rPr>
              <a:t>Fix: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889504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Switched to postgres:15-alpine in Docker. Named volume (postgres-data) keeps data alive on EC2's disk.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51376" y="1389888"/>
            <a:ext cx="3794760" cy="2240280"/>
          </a:xfrm>
          <a:prstGeom prst="rect">
            <a:avLst/>
          </a:prstGeom>
          <a:solidFill>
            <a:srgbClr val="F4F6FB"/>
          </a:solidFill>
          <a:ln w="762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51376" y="1389888"/>
            <a:ext cx="3794760" cy="36576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1104" y="143560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S3 bucket deleted every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1104" y="1847088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Problem: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1104" y="2048256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The S3 bucket and all files are removed on session end.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1104" y="2688336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9C5A"/>
                </a:solidFill>
              </a:rPr>
              <a:t>Fix: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4" y="2889504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Recreate the bucket at the start of each session with one CLI command. Metadata in PostgreSQL is preserved.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82712" y="1389888"/>
            <a:ext cx="3794760" cy="2240280"/>
          </a:xfrm>
          <a:prstGeom prst="rect">
            <a:avLst/>
          </a:prstGeom>
          <a:solidFill>
            <a:srgbClr val="F4F6FB"/>
          </a:solidFill>
          <a:ln w="762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82712" y="1389888"/>
            <a:ext cx="3794760" cy="36576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143560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EC2 gets a new IP each session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1847088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Problem: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048256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Port 80 firewall rule disappears. App unreachable after re-login.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688336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9C5A"/>
                </a:solidFill>
              </a:rPr>
              <a:t>Fix: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889504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Re-add inbound port 80 rule to the Security Group using the AWS CLI.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703320"/>
            <a:ext cx="3794760" cy="2240280"/>
          </a:xfrm>
          <a:prstGeom prst="rect">
            <a:avLst/>
          </a:prstGeom>
          <a:solidFill>
            <a:srgbClr val="F4F6FB"/>
          </a:solidFill>
          <a:ln w="762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703320"/>
            <a:ext cx="3794760" cy="36576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3749039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OCR picking wrong total amount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4160520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Problem: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" y="4361688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Document had 'CATEGORY TOTAL 100%' with no dollar value — OCR picked a random amount.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5001768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9C5A"/>
                </a:solidFill>
              </a:rPr>
              <a:t>Fix: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5202936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Built a 4-stage total detection: explicit label → TOTAL+% pattern → duplication check → largest amount.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51376" y="3703320"/>
            <a:ext cx="3794760" cy="2240280"/>
          </a:xfrm>
          <a:prstGeom prst="rect">
            <a:avLst/>
          </a:prstGeom>
          <a:solidFill>
            <a:srgbClr val="F4F6FB"/>
          </a:solidFill>
          <a:ln w="762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51376" y="3703320"/>
            <a:ext cx="3794760" cy="36576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61104" y="3749039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Month filter showing no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61104" y="4160520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Problem: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61104" y="4361688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All documents uploaded on the same day — grouping by upload_date put everything in one month.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61104" y="5001768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9C5A"/>
                </a:solidFill>
              </a:rPr>
              <a:t>Fix: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61104" y="5202936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Changed grouping and filtering to use primary_date extracted by OCR — the actual document date.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82712" y="3703320"/>
            <a:ext cx="3794760" cy="2240280"/>
          </a:xfrm>
          <a:prstGeom prst="rect">
            <a:avLst/>
          </a:prstGeom>
          <a:solidFill>
            <a:srgbClr val="F4F6FB"/>
          </a:solidFill>
          <a:ln w="7620">
            <a:solidFill>
              <a:srgbClr val="C5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82712" y="3703320"/>
            <a:ext cx="3794760" cy="36576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3749039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OCR reading 'J anuary' instead of 'January'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4160520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Problem: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4361688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Tesseract sometimes splits the first letter from the rest of a month name.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92440" y="5001768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9C5A"/>
                </a:solidFill>
              </a:rPr>
              <a:t>Fix: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5202936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4B"/>
                </a:solidFill>
              </a:rPr>
              <a:t>Added a normalise_text() pre-processing step that fixes broken month names before extraction runs.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487168"/>
            <a:ext cx="3840480" cy="64008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DE9FF"/>
                </a:solidFill>
              </a:rPr>
              <a:t>FinSight — Financial Document Intelligence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29000"/>
            <a:ext cx="1783080" cy="1280160"/>
          </a:xfrm>
          <a:prstGeom prst="rect">
            <a:avLst/>
          </a:prstGeom>
          <a:solidFill>
            <a:srgbClr val="1C3D7A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493008"/>
            <a:ext cx="1572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77056"/>
            <a:ext cx="178308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5020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9FF"/>
                </a:solidFill>
              </a:rPr>
              <a:t>PDF, PNG, JPG
multi-file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3429000"/>
            <a:ext cx="1783080" cy="1280160"/>
          </a:xfrm>
          <a:prstGeom prst="rect">
            <a:avLst/>
          </a:prstGeom>
          <a:solidFill>
            <a:srgbClr val="1C3D7A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3493008"/>
            <a:ext cx="1572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OCR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3877056"/>
            <a:ext cx="178308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395020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9FF"/>
                </a:solidFill>
              </a:rPr>
              <a:t>Tesseract
300 DPI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3429000"/>
            <a:ext cx="1783080" cy="1280160"/>
          </a:xfrm>
          <a:prstGeom prst="rect">
            <a:avLst/>
          </a:prstGeom>
          <a:solidFill>
            <a:srgbClr val="1C3D7A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3493008"/>
            <a:ext cx="1572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3877056"/>
            <a:ext cx="178308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395020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9FF"/>
                </a:solidFill>
              </a:rPr>
              <a:t>Amounts, Dates
Vendors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199" y="3429000"/>
            <a:ext cx="1783080" cy="1280160"/>
          </a:xfrm>
          <a:prstGeom prst="rect">
            <a:avLst/>
          </a:prstGeom>
          <a:solidFill>
            <a:srgbClr val="1C3D7A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39" y="3493008"/>
            <a:ext cx="1572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Categorise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199" y="3877056"/>
            <a:ext cx="178308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39" y="395020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9FF"/>
                </a:solidFill>
              </a:rPr>
              <a:t>6 document
types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19" y="3429000"/>
            <a:ext cx="1783080" cy="1280160"/>
          </a:xfrm>
          <a:prstGeom prst="rect">
            <a:avLst/>
          </a:prstGeom>
          <a:solidFill>
            <a:srgbClr val="1C3D7A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9" y="3493008"/>
            <a:ext cx="1572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19" y="3877056"/>
            <a:ext cx="178308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59" y="395020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9FF"/>
                </a:solidFill>
              </a:rPr>
              <a:t>Charts, trends
month filter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39" y="3429000"/>
            <a:ext cx="1783080" cy="1280160"/>
          </a:xfrm>
          <a:prstGeom prst="rect">
            <a:avLst/>
          </a:prstGeom>
          <a:solidFill>
            <a:srgbClr val="1C3D7A"/>
          </a:solidFill>
          <a:ln w="10160">
            <a:solidFill>
              <a:srgbClr val="4C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79" y="3493008"/>
            <a:ext cx="1572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Cloud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21239" y="3877056"/>
            <a:ext cx="178308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12679" y="395020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9FF"/>
                </a:solidFill>
              </a:rPr>
              <a:t>EC2, S3
IAM, VPC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292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C6EF5"/>
                </a:solidFill>
              </a:rPr>
              <a:t>Questions?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150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AA"/>
                </a:solidFill>
              </a:rPr>
              <a:t>Built on AWS Academy  ·  EC2  ·  S3  ·  IAM  ·  VPC  ·  Docker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